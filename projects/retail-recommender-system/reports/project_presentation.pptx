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2B579A"/>
            </a:solidFill>
          </c:spPr>
          <c:cat>
            <c:strRef>
              <c:f>Sheet1!$A$2:$A$4</c:f>
              <c:strCache>
                <c:ptCount val="3"/>
                <c:pt idx="0">
                  <c:v>item-item
co-occurrence</c:v>
                </c:pt>
                <c:pt idx="1">
                  <c:v>ALS</c:v>
                </c:pt>
                <c:pt idx="2">
                  <c:v>BPR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0.01156</c:v>
                </c:pt>
                <c:pt idx="1">
                  <c:v>0.01013</c:v>
                </c:pt>
                <c:pt idx="2">
                  <c:v>0.01006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6E8EB8"/>
            </a:solidFill>
          </c:spPr>
          <c:cat>
            <c:strRef>
              <c:f>Sheet1!$A$2:$A$4</c:f>
              <c:strCache>
                <c:ptCount val="3"/>
                <c:pt idx="0">
                  <c:v>item-item
co-occurrence</c:v>
                </c:pt>
                <c:pt idx="1">
                  <c:v>ALS</c:v>
                </c:pt>
                <c:pt idx="2">
                  <c:v>BPR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0.00857</c:v>
                </c:pt>
                <c:pt idx="1">
                  <c:v>0.00751</c:v>
                </c:pt>
                <c:pt idx="2">
                  <c:v>0.00767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100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Рекомендательная система интернет-магазина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25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911535" cy="23088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Задача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42428"/>
                </a:solidFill>
                <a:latin typeface="Calibri"/>
              </a:defRPr>
            </a:pPr>
            <a:r>
              <a:t>Top-10 персональных рекомендаций товаров визитору интернет-магазина по его прошлому поведению (implicit feedback: view / addtocart / transaction).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37659"/>
            <a:ext cx="5272887" cy="23088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Бизнес-цель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Больше полезных взаимодействий и покупок через рекомендации.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Цены и выручки в данных нет — рост оборота offline не измеряется, нужен онлайн A/B-тест.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4137659"/>
            <a:ext cx="5272887" cy="23088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Техническая цель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Максимизировать Recall@10 на честном temporal test.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Дополнительно — NDCG@10.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Данные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25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RetailRocket ecommerce dataset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42428"/>
                </a:solidFill>
                <a:latin typeface="Calibri"/>
              </a:defRPr>
            </a:pPr>
            <a:r>
              <a:t>03.05 — 18.09.2015 · открытый датасет интернет-магазина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42428"/>
                </a:solidFill>
                <a:latin typeface="Calibri"/>
              </a:defRPr>
            </a:pPr>
            <a:r>
              <a:t>2 755 641 событий (в raw 2 756 101, минус 460 полных дублей)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42428"/>
                </a:solidFill>
                <a:latin typeface="Calibri"/>
              </a:defRPr>
            </a:pPr>
            <a:r>
              <a:t>1 407 580 визиторов · 235 061 товаров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42428"/>
                </a:solidFill>
                <a:latin typeface="Calibri"/>
              </a:defRPr>
            </a:pPr>
            <a:r>
              <a:t>события: view / addtocart / transaction — implicit feedback, без цен и выручки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79"/>
            <a:ext cx="3393338" cy="30632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Товар (item)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популярность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конверсии view → cart → buy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свежесть (recency)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категория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доступность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3383279"/>
            <a:ext cx="3393338" cy="30632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Пользователь (user)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активность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длина истории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разнообразие категорий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свежесть последнего события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8276" y="3383279"/>
            <a:ext cx="3393338" cy="30632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Пара user–item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число взаимодействий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типы действий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свежесть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аффинити к категории товара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Подготовка данных и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25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4050677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2B5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400" b="1">
                <a:solidFill>
                  <a:srgbClr val="242428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85416"/>
            <a:ext cx="4050677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>
                <a:solidFill>
                  <a:srgbClr val="5B5B63"/>
                </a:solidFill>
                <a:latin typeface="Calibri"/>
              </a:defRPr>
            </a:pPr>
            <a:r>
              <a:t>по 2015-08-21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745621" y="1508760"/>
            <a:ext cx="3375564" cy="621792"/>
          </a:xfrm>
          <a:prstGeom prst="rect">
            <a:avLst/>
          </a:prstGeom>
          <a:solidFill>
            <a:srgbClr val="DDF0E2"/>
          </a:solidFill>
          <a:ln w="12700">
            <a:solidFill>
              <a:srgbClr val="1B7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400" b="1">
                <a:solidFill>
                  <a:srgbClr val="242428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5621" y="2185416"/>
            <a:ext cx="3375564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>
                <a:solidFill>
                  <a:srgbClr val="5B5B63"/>
                </a:solidFill>
                <a:latin typeface="Calibri"/>
              </a:defRPr>
            </a:pPr>
            <a:r>
              <a:t>2015-08-22 — 2015-09-04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8176050" y="1508760"/>
            <a:ext cx="3375564" cy="621792"/>
          </a:xfrm>
          <a:prstGeom prst="rect">
            <a:avLst/>
          </a:prstGeom>
          <a:solidFill>
            <a:srgbClr val="F4E3C9"/>
          </a:solidFill>
          <a:ln w="12700">
            <a:solidFill>
              <a:srgbClr val="B0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400" b="1">
                <a:solidFill>
                  <a:srgbClr val="242428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6050" y="2185416"/>
            <a:ext cx="3375564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>
                <a:solidFill>
                  <a:srgbClr val="5B5B63"/>
                </a:solidFill>
                <a:latin typeface="Calibri"/>
              </a:defRPr>
            </a:pPr>
            <a:r>
              <a:t>2015-09-05 — 2015-09-18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5272887" cy="2286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Признаки и цель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Признаки — только из событий до cutoff = 2015-07-01 (нет заглядывания в будущее).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Целевое действие — сильное взаимодействие (addtocart ∪ transaction).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Веса событий: view=1, addtocart=3, transaction=5.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880360"/>
            <a:ext cx="5272887" cy="2286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Честный протокол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Гиперпараметры подбираются только на validation, test — один финальный замер (не для перебора).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~86% target-визиторов на test холодные (2937 из 3432) — для них любая модель = fallback на популярность.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Сравнение моделей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25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508760"/>
          <a:ext cx="7498079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03919" y="1508760"/>
            <a:ext cx="3047695" cy="4114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Что сравнивали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baseline: global / category / item-item popularity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ALS и BPR (implicit) — коллаборативная фильтрация, матрица confidence из весов событий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отбор гиперпараметров — по Recall@10 на validation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метрики на графике — финальный замер на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Итоговая модель — item-item co-occurrence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25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6126480" cy="30175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Как работает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Связывает товары, которые встречались в историях одних и тех же пользователей (совместная встречаемость, косинусная близость).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Для визитора берём товары, близкие к объектам его истории, и суммируем их score — получаем Top-10.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Визитор без истории → рекомендации по популярности (fallback).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00200"/>
            <a:ext cx="4236415" cy="603504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2700">
            <a:solidFill>
              <a:srgbClr val="2B5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500">
                <a:solidFill>
                  <a:srgbClr val="242428"/>
                </a:solidFill>
                <a:latin typeface="Calibri"/>
              </a:defRPr>
            </a:pPr>
            <a:r>
              <a:t>история визитора</a:t>
            </a:r>
          </a:p>
        </p:txBody>
      </p:sp>
      <p:sp>
        <p:nvSpPr>
          <p:cNvPr id="6" name="Down Arrow 5"/>
          <p:cNvSpPr/>
          <p:nvPr/>
        </p:nvSpPr>
        <p:spPr>
          <a:xfrm>
            <a:off x="9332823" y="2240280"/>
            <a:ext cx="201168" cy="146303"/>
          </a:xfrm>
          <a:prstGeom prst="downArrow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0" y="2423160"/>
            <a:ext cx="4236415" cy="603504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2700">
            <a:solidFill>
              <a:srgbClr val="2B5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500">
                <a:solidFill>
                  <a:srgbClr val="242428"/>
                </a:solidFill>
                <a:latin typeface="Calibri"/>
              </a:defRPr>
            </a:pPr>
            <a:r>
              <a:t>связанные товары</a:t>
            </a:r>
          </a:p>
        </p:txBody>
      </p:sp>
      <p:sp>
        <p:nvSpPr>
          <p:cNvPr id="8" name="Down Arrow 7"/>
          <p:cNvSpPr/>
          <p:nvPr/>
        </p:nvSpPr>
        <p:spPr>
          <a:xfrm>
            <a:off x="9332823" y="3063240"/>
            <a:ext cx="201168" cy="146303"/>
          </a:xfrm>
          <a:prstGeom prst="downArrow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3246120"/>
            <a:ext cx="4236415" cy="603504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2700">
            <a:solidFill>
              <a:srgbClr val="2B5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500">
                <a:solidFill>
                  <a:srgbClr val="242428"/>
                </a:solidFill>
                <a:latin typeface="Calibri"/>
              </a:defRPr>
            </a:pPr>
            <a:r>
              <a:t>агрегация score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332823" y="3886200"/>
            <a:ext cx="201168" cy="146303"/>
          </a:xfrm>
          <a:prstGeom prst="downArrow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4069080"/>
            <a:ext cx="4236415" cy="603504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2700">
            <a:solidFill>
              <a:srgbClr val="2B5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500">
                <a:solidFill>
                  <a:srgbClr val="242428"/>
                </a:solidFill>
                <a:latin typeface="Calibri"/>
              </a:defRPr>
            </a:pPr>
            <a:r>
              <a:t>Top-10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46319"/>
            <a:ext cx="10911535" cy="1600200"/>
          </a:xfrm>
          <a:prstGeom prst="roundRect">
            <a:avLst>
              <a:gd name="adj" fmla="val 6000"/>
            </a:avLst>
          </a:prstGeom>
          <a:solidFill>
            <a:srgbClr val="DDF0E2"/>
          </a:solidFill>
          <a:ln w="15875">
            <a:solidFill>
              <a:srgbClr val="1B7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42428"/>
                </a:solidFill>
                <a:latin typeface="Calibri"/>
              </a:defRPr>
            </a:pPr>
            <a:r>
              <a:t>Test Recall@10 = 0.0116  ·  NDCG@10 = 0.0086  ·  Recall@10 (warm) = 0.0221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800">
                <a:solidFill>
                  <a:srgbClr val="242428"/>
                </a:solidFill>
                <a:latin typeface="Calibri"/>
              </a:defRPr>
            </a:pPr>
            <a:r>
              <a:t>ALS и BPR слегка выигрывали на validation в warm-сегменте, но на test лучшее качество показала co-occurrence — её и завернули в сервис.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Рекомендательный сервис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25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4572000" cy="82296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2700">
            <a:solidFill>
              <a:srgbClr val="2B5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500">
                <a:solidFill>
                  <a:srgbClr val="242428"/>
                </a:solidFill>
                <a:latin typeface="Calibri"/>
              </a:defRPr>
            </a:pPr>
            <a:r>
              <a:t>POST /recommend</a:t>
            </a:r>
            <a:br/>
            <a:r>
              <a:t>{visitorid, n}</a:t>
            </a:r>
          </a:p>
        </p:txBody>
      </p:sp>
      <p:sp>
        <p:nvSpPr>
          <p:cNvPr id="5" name="Down Arrow 4"/>
          <p:cNvSpPr/>
          <p:nvPr/>
        </p:nvSpPr>
        <p:spPr>
          <a:xfrm>
            <a:off x="2825496" y="2642616"/>
            <a:ext cx="201168" cy="338328"/>
          </a:xfrm>
          <a:prstGeom prst="downArrow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4572000" cy="82296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2700">
            <a:solidFill>
              <a:srgbClr val="2B5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500">
                <a:solidFill>
                  <a:srgbClr val="242428"/>
                </a:solidFill>
                <a:latin typeface="Calibri"/>
              </a:defRPr>
            </a:pPr>
            <a:r>
              <a:t>recommendation service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25496" y="3877056"/>
            <a:ext cx="201168" cy="338328"/>
          </a:xfrm>
          <a:prstGeom prst="downArrow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251960"/>
            <a:ext cx="4572000" cy="82296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2700">
            <a:solidFill>
              <a:srgbClr val="2B5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>
            <a:noAutofit/>
          </a:bodyPr>
          <a:lstStyle/>
          <a:p>
            <a:pPr algn="ctr">
              <a:defRPr sz="1500">
                <a:solidFill>
                  <a:srgbClr val="242428"/>
                </a:solidFill>
                <a:latin typeface="Calibri"/>
              </a:defRPr>
            </a:pPr>
            <a:r>
              <a:t>[itemid, …]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08760"/>
            <a:ext cx="5790895" cy="39319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Сервис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FastAPI + uvicorn, упакован в Docker.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Эндпоинты: /health · /model-info · /recommend · /metrics.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Та же логика, что и в экспериментах — ItemItemCooccurrence.recommend, отдельной реализации нет.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Неизвестный визитор → рекомендации по популярности (fallback: true), сервис не падает.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242428"/>
                </a:solidFill>
                <a:latin typeface="Calibri"/>
              </a:defRPr>
            </a:pPr>
            <a:r>
              <a:t>Некорректные запросы (плохой JSON, лишние поля, n вне диапазона) → HTTP 422, а не падение процесса.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Docker, API и итог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25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272887" cy="2743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Docker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docker build -t recommender 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docker run --rm -p 8000:8000 recommender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HEALTHCHECK на /health, непривилегированный пользователь.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Образ — только рантайм-зависимости и артефакт модели (~25 МБ), сырые данные внутрь не кладутся.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727" y="1508760"/>
            <a:ext cx="5272887" cy="2743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Пример запроса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curl -X POST localhost:8000/recommend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  -d '{"visitorid": 874017, "n": 10}'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42428"/>
                </a:solidFill>
                <a:latin typeface="Calibri"/>
              </a:defRPr>
            </a:pPr>
            <a:r>
              <a:t>→ {"recommendations": [...], "fallback": false}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11535" cy="1874519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>
            <a:no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Итог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42428"/>
                </a:solidFill>
                <a:latin typeface="Calibri"/>
              </a:defRPr>
            </a:pPr>
            <a:r>
              <a:t>Лучшая модель — item-item co-occurrence, Recall@10 = 0.0116 на честном temporal test.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42428"/>
                </a:solidFill>
                <a:latin typeface="Calibri"/>
              </a:defRPr>
            </a:pPr>
            <a:r>
              <a:t>Главное ограничение — холодный старт: у большинства визиторов нет истории, персонализация работает на меньшинстве.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 sz="1700">
                <a:solidFill>
                  <a:srgbClr val="242428"/>
                </a:solidFill>
                <a:latin typeface="Calibri"/>
              </a:defRPr>
            </a:pPr>
            <a:r>
              <a:t>«+20% допродаж» — бизнес-гипотеза, а не доказанный результат: нужен онлайн A/B-тест.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